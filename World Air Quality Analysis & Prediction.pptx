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Arimo Bold Italic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F4B7A-422C-4958-96C9-F2EA802C0017}" v="2" dt="2026-09-02T15:41:14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DIK PATEL" userId="91266680cb876b2a" providerId="LiveId" clId="{39607E18-23D0-4236-9EBC-BBB1FA299569}"/>
    <pc:docChg chg="modSld">
      <pc:chgData name="HAEDIK PATEL" userId="91266680cb876b2a" providerId="LiveId" clId="{39607E18-23D0-4236-9EBC-BBB1FA299569}" dt="2026-09-02T15:40:52.329" v="30" actId="20577"/>
      <pc:docMkLst>
        <pc:docMk/>
      </pc:docMkLst>
      <pc:sldChg chg="modSp mod">
        <pc:chgData name="HAEDIK PATEL" userId="91266680cb876b2a" providerId="LiveId" clId="{39607E18-23D0-4236-9EBC-BBB1FA299569}" dt="2026-09-02T15:40:52.329" v="30" actId="20577"/>
        <pc:sldMkLst>
          <pc:docMk/>
          <pc:sldMk cId="0" sldId="257"/>
        </pc:sldMkLst>
        <pc:spChg chg="mod">
          <ac:chgData name="HAEDIK PATEL" userId="91266680cb876b2a" providerId="LiveId" clId="{39607E18-23D0-4236-9EBC-BBB1FA299569}" dt="2026-09-02T15:40:52.329" v="30" actId="20577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955476"/>
            <a:ext cx="9445526" cy="298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9"/>
              </a:lnSpc>
            </a:pPr>
            <a:r>
              <a:rPr lang="en-US" sz="5562" b="1" dirty="0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AEROSENSE: World Air Quality Analysis &amp;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50" y="4595997"/>
            <a:ext cx="9445500" cy="13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6"/>
              </a:lnSpc>
            </a:pPr>
            <a:r>
              <a:rPr lang="en-US" sz="3187" b="1" dirty="0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(Combining Data Analytics and Machine Learning with Streamlit)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168181"/>
            <a:ext cx="9445526" cy="3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 i="1" dirty="0">
                <a:solidFill>
                  <a:srgbClr val="F2F5FA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Presenter: Hardik Khambhaliya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855619"/>
            <a:ext cx="9445526" cy="83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Project Focus: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Developing an interactive web application to analyze, visualize, and predict global Air Quality Index (AQI) categories.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7911554"/>
            <a:ext cx="9445526" cy="120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Key Takeaway (Hook):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This project translates complex environmental data into a predictive, user-friendly tool, providing actionable insights into global air quality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7" y="778520"/>
            <a:ext cx="9445526" cy="206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9"/>
              </a:lnSpc>
            </a:pPr>
            <a:r>
              <a:rPr lang="en-US" sz="5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Air Quality: A Critical Global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3415754"/>
            <a:ext cx="4252912" cy="68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3312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The Challenge: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7" y="4290269"/>
            <a:ext cx="4376886" cy="120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449"/>
              </a:lnSpc>
              <a:buFont typeface="Arial"/>
              <a:buChar char="•"/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Air pollution (PM2.5, NO2​, CO, SO2​, O3​) is a major public health concern.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7" y="5494884"/>
            <a:ext cx="4376886" cy="156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449"/>
              </a:lnSpc>
              <a:buFont typeface="Arial"/>
              <a:buChar char="•"/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Data is often fragmented and complex, making trend analysis difficult for the public and policymakers.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28401" y="3415754"/>
            <a:ext cx="4376886" cy="123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3312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The Solution: AEROSENSE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406" y="4842844"/>
            <a:ext cx="4377000" cy="120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449"/>
              </a:lnSpc>
              <a:buFont typeface="Arial"/>
              <a:buChar char="•"/>
            </a:pPr>
            <a:r>
              <a:rPr lang="en-US" sz="2187" b="1" dirty="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Platform:</a:t>
            </a:r>
            <a:r>
              <a:rPr lang="en-US" sz="2187" dirty="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Interactive web application built with Python's </a:t>
            </a:r>
            <a:r>
              <a:rPr lang="en-US" sz="2187" b="1" dirty="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Streamlit</a:t>
            </a:r>
            <a:r>
              <a:rPr lang="en-US" sz="2187" dirty="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406" y="6155531"/>
            <a:ext cx="4377000" cy="17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449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Provide a single, accessible platform for data exploration, visualization, and AI-powered prediction of AQI         categories.</a:t>
            </a:r>
          </a:p>
          <a:p>
            <a:pPr marL="263922" lvl="1" indent="-131961" algn="l">
              <a:lnSpc>
                <a:spcPts val="2759"/>
              </a:lnSpc>
            </a:pPr>
            <a:endParaRPr lang="en-US" sz="2187">
              <a:solidFill>
                <a:srgbClr val="EBEDF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263922" lvl="1" indent="-131961" algn="l">
              <a:lnSpc>
                <a:spcPts val="2759"/>
              </a:lnSpc>
            </a:pPr>
            <a:endParaRPr lang="en-US" sz="2187">
              <a:solidFill>
                <a:srgbClr val="EBEDF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928406" y="8239126"/>
            <a:ext cx="4377000" cy="131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449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Core Function: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Convert raw pollutant data into actionable insights and forecasts.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036094"/>
            <a:chOff x="0" y="0"/>
            <a:chExt cx="24384000" cy="4048125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048125"/>
            </a:xfrm>
            <a:custGeom>
              <a:avLst/>
              <a:gdLst/>
              <a:ahLst/>
              <a:cxnLst/>
              <a:rect l="l" t="t" r="r" b="b"/>
              <a:pathLst>
                <a:path w="24384000" h="4048125">
                  <a:moveTo>
                    <a:pt x="0" y="0"/>
                  </a:moveTo>
                  <a:lnTo>
                    <a:pt x="24384000" y="0"/>
                  </a:lnTo>
                  <a:lnTo>
                    <a:pt x="24384000" y="4048125"/>
                  </a:lnTo>
                  <a:lnTo>
                    <a:pt x="0" y="4048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9625" y="3494931"/>
            <a:ext cx="12963228" cy="93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sz="44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Interactive Data Exploration and Visualization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9625" y="4698355"/>
            <a:ext cx="16668750" cy="37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 b="1" dirty="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Tools Used:</a:t>
            </a:r>
            <a:r>
              <a:rPr lang="en-US" sz="1812" dirty="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Python (Pandas, Matplotlib, Streamlit)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9625" y="5259140"/>
            <a:ext cx="16668750" cy="3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Key Interactive Modules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625" y="5819925"/>
            <a:ext cx="861000" cy="37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09625" y="6272064"/>
            <a:ext cx="8218735" cy="28575"/>
            <a:chOff x="0" y="0"/>
            <a:chExt cx="10958313" cy="381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958322" cy="38100"/>
            </a:xfrm>
            <a:custGeom>
              <a:avLst/>
              <a:gdLst/>
              <a:ahLst/>
              <a:cxnLst/>
              <a:rect l="l" t="t" r="r" b="b"/>
              <a:pathLst>
                <a:path w="10958322" h="38100">
                  <a:moveTo>
                    <a:pt x="0" y="0"/>
                  </a:moveTo>
                  <a:lnTo>
                    <a:pt x="10958322" y="0"/>
                  </a:lnTo>
                  <a:lnTo>
                    <a:pt x="1095832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09625" y="6349604"/>
            <a:ext cx="3175875" cy="47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Country-wise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9625" y="6883152"/>
            <a:ext cx="8218735" cy="3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User selects a country and instantly views air quality trends.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9597" y="5819925"/>
            <a:ext cx="707625" cy="37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259640" y="6272064"/>
            <a:ext cx="8218735" cy="28575"/>
            <a:chOff x="0" y="0"/>
            <a:chExt cx="10958313" cy="381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0958322" cy="38100"/>
            </a:xfrm>
            <a:custGeom>
              <a:avLst/>
              <a:gdLst/>
              <a:ahLst/>
              <a:cxnLst/>
              <a:rect l="l" t="t" r="r" b="b"/>
              <a:pathLst>
                <a:path w="10958322" h="38100">
                  <a:moveTo>
                    <a:pt x="0" y="0"/>
                  </a:moveTo>
                  <a:lnTo>
                    <a:pt x="10958322" y="0"/>
                  </a:lnTo>
                  <a:lnTo>
                    <a:pt x="1095832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259640" y="6349604"/>
            <a:ext cx="2891581" cy="47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Aggregation Control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59640" y="6883152"/>
            <a:ext cx="8218735" cy="3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User chooses the </a:t>
            </a: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Average, Sum, or Median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pollutant values for comparison.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9625" y="7588456"/>
            <a:ext cx="707625" cy="37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809625" y="8017520"/>
            <a:ext cx="8218735" cy="28575"/>
            <a:chOff x="0" y="0"/>
            <a:chExt cx="10958313" cy="3810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0958322" cy="38100"/>
            </a:xfrm>
            <a:custGeom>
              <a:avLst/>
              <a:gdLst/>
              <a:ahLst/>
              <a:cxnLst/>
              <a:rect l="l" t="t" r="r" b="b"/>
              <a:pathLst>
                <a:path w="10958322" h="38100">
                  <a:moveTo>
                    <a:pt x="0" y="0"/>
                  </a:moveTo>
                  <a:lnTo>
                    <a:pt x="10958322" y="0"/>
                  </a:lnTo>
                  <a:lnTo>
                    <a:pt x="1095832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09625" y="8118127"/>
            <a:ext cx="2891581" cy="47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Visualization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9625" y="8651676"/>
            <a:ext cx="8218735" cy="376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Dynamic bar charts display pollutant levels (PM2.5, NO2​, SO2​, O3​, CO).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59599" y="7588456"/>
            <a:ext cx="630375" cy="37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259640" y="8017520"/>
            <a:ext cx="8218735" cy="28575"/>
            <a:chOff x="0" y="0"/>
            <a:chExt cx="10958313" cy="3810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0958322" cy="38100"/>
            </a:xfrm>
            <a:custGeom>
              <a:avLst/>
              <a:gdLst/>
              <a:ahLst/>
              <a:cxnLst/>
              <a:rect l="l" t="t" r="r" b="b"/>
              <a:pathLst>
                <a:path w="10958322" h="38100">
                  <a:moveTo>
                    <a:pt x="0" y="0"/>
                  </a:moveTo>
                  <a:lnTo>
                    <a:pt x="10958322" y="0"/>
                  </a:lnTo>
                  <a:lnTo>
                    <a:pt x="1095832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259640" y="8118127"/>
            <a:ext cx="2891581" cy="47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Critical Feature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59640" y="8651676"/>
            <a:ext cx="8218735" cy="6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Plots utilize a </a:t>
            </a: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Logarithmic Scale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(plt.yscale("log")) to effectively compare pollutants with widely varying concentration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3779" y="458400"/>
            <a:ext cx="16660500" cy="9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4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Predictive Insights: Forecasting AQI Categories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3792" y="1774180"/>
            <a:ext cx="16660416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Model: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12">
                <a:solidFill>
                  <a:srgbClr val="6296FF"/>
                </a:solidFill>
                <a:latin typeface="Arimo"/>
                <a:ea typeface="Arimo"/>
                <a:cs typeface="Arimo"/>
                <a:sym typeface="Arimo"/>
              </a:rPr>
              <a:t>Random Forest Classifier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(A classification algorithm)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3792" y="2337793"/>
            <a:ext cx="16660416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Predict the final </a:t>
            </a: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Air Quality Category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(e.g., Good, Moderate, Unhealthy) based on input pollutant values.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792" y="2960042"/>
            <a:ext cx="5294411" cy="56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687" b="1">
                <a:solidFill>
                  <a:srgbClr val="FAC496"/>
                </a:solidFill>
                <a:latin typeface="Arimo Bold"/>
                <a:ea typeface="Arimo Bold"/>
                <a:cs typeface="Arimo Bold"/>
                <a:sym typeface="Arimo Bold"/>
              </a:rPr>
              <a:t>The Machine Learning Pipeline: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13792" y="3876526"/>
            <a:ext cx="1162645" cy="1395115"/>
            <a:chOff x="0" y="0"/>
            <a:chExt cx="1550193" cy="1860153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50162" cy="1860169"/>
            </a:xfrm>
            <a:custGeom>
              <a:avLst/>
              <a:gdLst/>
              <a:ahLst/>
              <a:cxnLst/>
              <a:rect l="l" t="t" r="r" b="b"/>
              <a:pathLst>
                <a:path w="1550162" h="1860169">
                  <a:moveTo>
                    <a:pt x="0" y="0"/>
                  </a:moveTo>
                  <a:lnTo>
                    <a:pt x="1550162" y="0"/>
                  </a:lnTo>
                  <a:lnTo>
                    <a:pt x="1550162" y="1860169"/>
                  </a:lnTo>
                  <a:lnTo>
                    <a:pt x="0" y="18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08907" y="4013746"/>
            <a:ext cx="2906762" cy="47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Data Preprocessing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08907" y="4540449"/>
            <a:ext cx="15265301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Used </a:t>
            </a:r>
            <a:r>
              <a:rPr lang="en-US" sz="18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Label Encoding</a:t>
            </a: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(LabelEncoder) to transform the categorical target variable (AQI Category) into a numerical format for the model.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813792" y="5271641"/>
            <a:ext cx="1162645" cy="1395115"/>
            <a:chOff x="0" y="0"/>
            <a:chExt cx="1550193" cy="1860153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550162" cy="1860169"/>
            </a:xfrm>
            <a:custGeom>
              <a:avLst/>
              <a:gdLst/>
              <a:ahLst/>
              <a:cxnLst/>
              <a:rect l="l" t="t" r="r" b="b"/>
              <a:pathLst>
                <a:path w="1550162" h="1860169">
                  <a:moveTo>
                    <a:pt x="0" y="0"/>
                  </a:moveTo>
                  <a:lnTo>
                    <a:pt x="1550162" y="0"/>
                  </a:lnTo>
                  <a:lnTo>
                    <a:pt x="1550162" y="1860169"/>
                  </a:lnTo>
                  <a:lnTo>
                    <a:pt x="0" y="18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08907" y="5408860"/>
            <a:ext cx="2906762" cy="47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Model Training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08907" y="5935564"/>
            <a:ext cx="15265301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classifier is trained on historical data.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13792" y="6666756"/>
            <a:ext cx="1162645" cy="1395115"/>
            <a:chOff x="0" y="0"/>
            <a:chExt cx="1550193" cy="186015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550162" cy="1860169"/>
            </a:xfrm>
            <a:custGeom>
              <a:avLst/>
              <a:gdLst/>
              <a:ahLst/>
              <a:cxnLst/>
              <a:rect l="l" t="t" r="r" b="b"/>
              <a:pathLst>
                <a:path w="1550162" h="1860169">
                  <a:moveTo>
                    <a:pt x="0" y="0"/>
                  </a:moveTo>
                  <a:lnTo>
                    <a:pt x="1550162" y="0"/>
                  </a:lnTo>
                  <a:lnTo>
                    <a:pt x="1550162" y="1860169"/>
                  </a:lnTo>
                  <a:lnTo>
                    <a:pt x="0" y="1860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208907" y="6803975"/>
            <a:ext cx="2906762" cy="47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Prediction Module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08907" y="7330679"/>
            <a:ext cx="15265301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Allows a user to input pollutant type and value, and the model instantly outputs the corresponding predicted AQI category.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813792" y="8061871"/>
            <a:ext cx="1162645" cy="1586359"/>
            <a:chOff x="0" y="0"/>
            <a:chExt cx="1550193" cy="2115145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550162" cy="2115185"/>
            </a:xfrm>
            <a:custGeom>
              <a:avLst/>
              <a:gdLst/>
              <a:ahLst/>
              <a:cxnLst/>
              <a:rect l="l" t="t" r="r" b="b"/>
              <a:pathLst>
                <a:path w="1550162" h="2115185">
                  <a:moveTo>
                    <a:pt x="0" y="0"/>
                  </a:moveTo>
                  <a:lnTo>
                    <a:pt x="1550162" y="0"/>
                  </a:lnTo>
                  <a:lnTo>
                    <a:pt x="1550162" y="2115185"/>
                  </a:lnTo>
                  <a:lnTo>
                    <a:pt x="0" y="2115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" b="-32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208907" y="8199090"/>
            <a:ext cx="2906762" cy="47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24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Justification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08907" y="8725792"/>
            <a:ext cx="15265301" cy="68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1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Random Forest is robust and effective at capturing the non-linear relationship between multiple pollutants and the resulting air quality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772" y="549771"/>
            <a:ext cx="12753750" cy="114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24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End-to-End Data Science Proficiency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1819" y="2938164"/>
            <a:ext cx="16324361" cy="6576417"/>
            <a:chOff x="0" y="0"/>
            <a:chExt cx="21765815" cy="87685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65895" cy="8768588"/>
            </a:xfrm>
            <a:custGeom>
              <a:avLst/>
              <a:gdLst/>
              <a:ahLst/>
              <a:cxnLst/>
              <a:rect l="l" t="t" r="r" b="b"/>
              <a:pathLst>
                <a:path w="21765895" h="8768588">
                  <a:moveTo>
                    <a:pt x="0" y="165989"/>
                  </a:moveTo>
                  <a:cubicBezTo>
                    <a:pt x="0" y="74295"/>
                    <a:pt x="74422" y="0"/>
                    <a:pt x="166243" y="0"/>
                  </a:cubicBezTo>
                  <a:lnTo>
                    <a:pt x="21599652" y="0"/>
                  </a:lnTo>
                  <a:lnTo>
                    <a:pt x="21599652" y="7874"/>
                  </a:lnTo>
                  <a:lnTo>
                    <a:pt x="21599652" y="0"/>
                  </a:lnTo>
                  <a:cubicBezTo>
                    <a:pt x="21691473" y="0"/>
                    <a:pt x="21765895" y="74295"/>
                    <a:pt x="21765895" y="165989"/>
                  </a:cubicBezTo>
                  <a:lnTo>
                    <a:pt x="21758021" y="165989"/>
                  </a:lnTo>
                  <a:lnTo>
                    <a:pt x="21765895" y="165989"/>
                  </a:lnTo>
                  <a:lnTo>
                    <a:pt x="21765895" y="8602599"/>
                  </a:lnTo>
                  <a:lnTo>
                    <a:pt x="21758021" y="8602599"/>
                  </a:lnTo>
                  <a:lnTo>
                    <a:pt x="21765895" y="8602599"/>
                  </a:lnTo>
                  <a:cubicBezTo>
                    <a:pt x="21765895" y="8694293"/>
                    <a:pt x="21691473" y="8768588"/>
                    <a:pt x="21599652" y="8768588"/>
                  </a:cubicBezTo>
                  <a:lnTo>
                    <a:pt x="21599652" y="8760714"/>
                  </a:lnTo>
                  <a:lnTo>
                    <a:pt x="21599652" y="8768588"/>
                  </a:lnTo>
                  <a:lnTo>
                    <a:pt x="166243" y="8768588"/>
                  </a:lnTo>
                  <a:lnTo>
                    <a:pt x="166243" y="8760714"/>
                  </a:lnTo>
                  <a:lnTo>
                    <a:pt x="166243" y="8768588"/>
                  </a:lnTo>
                  <a:cubicBezTo>
                    <a:pt x="74422" y="8768588"/>
                    <a:pt x="0" y="8694293"/>
                    <a:pt x="0" y="8602599"/>
                  </a:cubicBezTo>
                  <a:lnTo>
                    <a:pt x="0" y="165989"/>
                  </a:lnTo>
                  <a:lnTo>
                    <a:pt x="7874" y="165989"/>
                  </a:lnTo>
                  <a:lnTo>
                    <a:pt x="0" y="165989"/>
                  </a:lnTo>
                  <a:moveTo>
                    <a:pt x="15875" y="165989"/>
                  </a:moveTo>
                  <a:lnTo>
                    <a:pt x="15875" y="8602599"/>
                  </a:lnTo>
                  <a:lnTo>
                    <a:pt x="7874" y="8602599"/>
                  </a:lnTo>
                  <a:lnTo>
                    <a:pt x="15748" y="8602599"/>
                  </a:lnTo>
                  <a:cubicBezTo>
                    <a:pt x="15748" y="8685530"/>
                    <a:pt x="83058" y="8752713"/>
                    <a:pt x="166116" y="8752713"/>
                  </a:cubicBezTo>
                  <a:lnTo>
                    <a:pt x="21599652" y="8752713"/>
                  </a:lnTo>
                  <a:cubicBezTo>
                    <a:pt x="21682711" y="8752713"/>
                    <a:pt x="21750020" y="8685530"/>
                    <a:pt x="21750020" y="8602599"/>
                  </a:cubicBezTo>
                  <a:lnTo>
                    <a:pt x="21750020" y="165989"/>
                  </a:lnTo>
                  <a:cubicBezTo>
                    <a:pt x="21750020" y="83058"/>
                    <a:pt x="21682711" y="15875"/>
                    <a:pt x="21599652" y="15875"/>
                  </a:cubicBezTo>
                  <a:lnTo>
                    <a:pt x="166243" y="15875"/>
                  </a:lnTo>
                  <a:lnTo>
                    <a:pt x="166243" y="7874"/>
                  </a:lnTo>
                  <a:lnTo>
                    <a:pt x="166243" y="15875"/>
                  </a:lnTo>
                  <a:cubicBezTo>
                    <a:pt x="83185" y="15875"/>
                    <a:pt x="15875" y="83058"/>
                    <a:pt x="15875" y="165989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7297" y="2953642"/>
            <a:ext cx="16293405" cy="724198"/>
            <a:chOff x="0" y="0"/>
            <a:chExt cx="21724540" cy="9655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24493" cy="965581"/>
            </a:xfrm>
            <a:custGeom>
              <a:avLst/>
              <a:gdLst/>
              <a:ahLst/>
              <a:cxnLst/>
              <a:rect l="l" t="t" r="r" b="b"/>
              <a:pathLst>
                <a:path w="21724493" h="965581">
                  <a:moveTo>
                    <a:pt x="0" y="0"/>
                  </a:moveTo>
                  <a:lnTo>
                    <a:pt x="21724493" y="0"/>
                  </a:lnTo>
                  <a:lnTo>
                    <a:pt x="21724493" y="965581"/>
                  </a:lnTo>
                  <a:lnTo>
                    <a:pt x="0" y="96558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9624" y="3037135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Phase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57664" y="3037135"/>
            <a:ext cx="512876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Technical Skill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60311" y="3037135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Tool/Library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7297" y="3677841"/>
            <a:ext cx="16293405" cy="1090910"/>
            <a:chOff x="0" y="0"/>
            <a:chExt cx="21724540" cy="14545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24493" cy="1454531"/>
            </a:xfrm>
            <a:custGeom>
              <a:avLst/>
              <a:gdLst/>
              <a:ahLst/>
              <a:cxnLst/>
              <a:rect l="l" t="t" r="r" b="b"/>
              <a:pathLst>
                <a:path w="21724493" h="1454531">
                  <a:moveTo>
                    <a:pt x="0" y="0"/>
                  </a:moveTo>
                  <a:lnTo>
                    <a:pt x="21724493" y="0"/>
                  </a:lnTo>
                  <a:lnTo>
                    <a:pt x="21724493" y="1454531"/>
                  </a:lnTo>
                  <a:lnTo>
                    <a:pt x="0" y="14545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79624" y="3761334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Data Acquisition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7664" y="3761334"/>
            <a:ext cx="51287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API Integration (ISRO, Crypto, COVID) &amp; Data Wrangling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60311" y="3761334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Python (requests, Pandas)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7297" y="4768751"/>
            <a:ext cx="16293405" cy="1090910"/>
            <a:chOff x="0" y="0"/>
            <a:chExt cx="21724540" cy="14545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24493" cy="1454531"/>
            </a:xfrm>
            <a:custGeom>
              <a:avLst/>
              <a:gdLst/>
              <a:ahLst/>
              <a:cxnLst/>
              <a:rect l="l" t="t" r="r" b="b"/>
              <a:pathLst>
                <a:path w="21724493" h="1454531">
                  <a:moveTo>
                    <a:pt x="0" y="0"/>
                  </a:moveTo>
                  <a:lnTo>
                    <a:pt x="21724493" y="0"/>
                  </a:lnTo>
                  <a:lnTo>
                    <a:pt x="21724493" y="1454531"/>
                  </a:lnTo>
                  <a:lnTo>
                    <a:pt x="0" y="14545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79624" y="4852244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C593DB"/>
                </a:solidFill>
                <a:latin typeface="Arimo Bold"/>
                <a:ea typeface="Arimo Bold"/>
                <a:cs typeface="Arimo Bold"/>
                <a:sym typeface="Arimo Bold"/>
              </a:rPr>
              <a:t>Data Analysis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57664" y="4852244"/>
            <a:ext cx="51287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Conditional Data Fetching, Result Analysis (CSV handling)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60311" y="4852244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Pandas, NumPy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7297" y="5859661"/>
            <a:ext cx="16293405" cy="1090910"/>
            <a:chOff x="0" y="0"/>
            <a:chExt cx="21724540" cy="14545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24493" cy="1454531"/>
            </a:xfrm>
            <a:custGeom>
              <a:avLst/>
              <a:gdLst/>
              <a:ahLst/>
              <a:cxnLst/>
              <a:rect l="l" t="t" r="r" b="b"/>
              <a:pathLst>
                <a:path w="21724493" h="1454531">
                  <a:moveTo>
                    <a:pt x="0" y="0"/>
                  </a:moveTo>
                  <a:lnTo>
                    <a:pt x="21724493" y="0"/>
                  </a:lnTo>
                  <a:lnTo>
                    <a:pt x="21724493" y="1454531"/>
                  </a:lnTo>
                  <a:lnTo>
                    <a:pt x="0" y="14545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9624" y="5943154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77C9EB"/>
                </a:solidFill>
                <a:latin typeface="Arimo Bold"/>
                <a:ea typeface="Arimo Bold"/>
                <a:cs typeface="Arimo Bold"/>
                <a:sym typeface="Arimo Bold"/>
              </a:rPr>
              <a:t>Visualization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57664" y="5943154"/>
            <a:ext cx="51287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Data Storytelling via Charts (Bar, Line, Pie) and Dashboards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60311" y="5943154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Matplotlib, Power BI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97297" y="6950571"/>
            <a:ext cx="16293405" cy="1457623"/>
            <a:chOff x="0" y="0"/>
            <a:chExt cx="21724540" cy="194349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24493" cy="1943481"/>
            </a:xfrm>
            <a:custGeom>
              <a:avLst/>
              <a:gdLst/>
              <a:ahLst/>
              <a:cxnLst/>
              <a:rect l="l" t="t" r="r" b="b"/>
              <a:pathLst>
                <a:path w="21724493" h="1943481">
                  <a:moveTo>
                    <a:pt x="0" y="0"/>
                  </a:moveTo>
                  <a:lnTo>
                    <a:pt x="21724493" y="0"/>
                  </a:lnTo>
                  <a:lnTo>
                    <a:pt x="21724493" y="1943481"/>
                  </a:lnTo>
                  <a:lnTo>
                    <a:pt x="0" y="194348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79624" y="7034064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9FEED9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57664" y="7034064"/>
            <a:ext cx="5128766" cy="119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Supervised Learning, Model Training &amp; Evaluation (Random Forest, Master's Prediction)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60311" y="7034064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Scikit-learn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97297" y="8408194"/>
            <a:ext cx="16293405" cy="1090910"/>
            <a:chOff x="0" y="0"/>
            <a:chExt cx="21724540" cy="14545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24493" cy="1454531"/>
            </a:xfrm>
            <a:custGeom>
              <a:avLst/>
              <a:gdLst/>
              <a:ahLst/>
              <a:cxnLst/>
              <a:rect l="l" t="t" r="r" b="b"/>
              <a:pathLst>
                <a:path w="21724493" h="1454531">
                  <a:moveTo>
                    <a:pt x="0" y="0"/>
                  </a:moveTo>
                  <a:lnTo>
                    <a:pt x="21724493" y="0"/>
                  </a:lnTo>
                  <a:lnTo>
                    <a:pt x="21724493" y="1454531"/>
                  </a:lnTo>
                  <a:lnTo>
                    <a:pt x="0" y="14545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79624" y="8491686"/>
            <a:ext cx="35041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b="1">
                <a:solidFill>
                  <a:srgbClr val="FAC496"/>
                </a:solidFill>
                <a:latin typeface="Arimo Bold"/>
                <a:ea typeface="Arimo Bold"/>
                <a:cs typeface="Arimo Bold"/>
                <a:sym typeface="Arimo Bold"/>
              </a:rPr>
              <a:t>Web Application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57664" y="8491686"/>
            <a:ext cx="512876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Building an Interactive, Multi-module User Interface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60311" y="8491686"/>
            <a:ext cx="5948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187" dirty="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89804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21811" y="549325"/>
            <a:ext cx="9502378" cy="199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374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Conclusion: Bridging Theory to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21811" y="3103661"/>
            <a:ext cx="4415284" cy="120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3250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Summary of Achievement: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21812" y="4348900"/>
            <a:ext cx="4415250" cy="131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Successfully implemented a functional, interactive data application (AEROSENSE).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21812" y="5803931"/>
            <a:ext cx="4415250" cy="151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Demonstrated proficiency across the entire data science pipeline: </a:t>
            </a:r>
            <a:r>
              <a:rPr lang="en-US" sz="21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Acquisition</a:t>
            </a: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1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Cleaning</a:t>
            </a: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1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Visualization</a:t>
            </a: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1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Prediction.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21812" y="8090994"/>
            <a:ext cx="4415250" cy="187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project serves as a solid platform for applying data analytics and machine learning concepts to real-world scenarios.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18430" y="3103661"/>
            <a:ext cx="4415284" cy="120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3250" b="1">
                <a:solidFill>
                  <a:srgbClr val="4A86E8"/>
                </a:solidFill>
                <a:latin typeface="Arimo Bold"/>
                <a:ea typeface="Arimo Bold"/>
                <a:cs typeface="Arimo Bold"/>
                <a:sym typeface="Arimo Bold"/>
              </a:rPr>
              <a:t>Future Scope (Next Steps):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18430" y="4500265"/>
            <a:ext cx="4415284" cy="151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Integrate </a:t>
            </a:r>
            <a:r>
              <a:rPr lang="en-US" sz="21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Time Series Forecasting</a:t>
            </a: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(e.g., ARIMA or RNN) to predict future pollutant concentration levels over time.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18438" y="6301337"/>
            <a:ext cx="4415250" cy="187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Expand the model with additional features like weather data and seasonal variations for enhanced prediction accuracy.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18438" y="8154995"/>
            <a:ext cx="4415250" cy="151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Deploy the application for public access and real-time data streaming.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Arimo Bold Italics</vt:lpstr>
      <vt:lpstr>Arial</vt:lpstr>
      <vt:lpstr>Arimo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AEROSENSE ppt.pptx</dc:title>
  <dc:creator>Hardik</dc:creator>
  <cp:lastModifiedBy>HAEDIK PATEL</cp:lastModifiedBy>
  <cp:revision>2</cp:revision>
  <dcterms:created xsi:type="dcterms:W3CDTF">2006-08-16T00:00:00Z</dcterms:created>
  <dcterms:modified xsi:type="dcterms:W3CDTF">2026-09-02T15:41:17Z</dcterms:modified>
  <dc:identifier>DAG0qFxwV8E</dc:identifier>
</cp:coreProperties>
</file>